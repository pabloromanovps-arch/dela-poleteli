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Внутренняя версия для владельца. Клиенту — только после одобрения владельца, qc-supervisor и creative-director.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Шесть с половиной минут, три экрана и потолок: из списка людей сделать одно высказывание. Хронометраж 390 с — допущение, клиент не называл. 35 = 7 категорий x 5; спецноминации не учтены.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Лат. #8A6B3A (3,0:1) — только материал объекта, текст не набирается. Зол. #C9A961 (6,8:1) — номера и линии; заголовки и имена — тёплым белым #F4EFE4 (13,4:1).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Шрифты на слайде — временные (Inter, SIL OFL), только для теста сборки. Выбор — за владельцем через fonthound, с проверкой лицензии и кириллицы (ё, й, №, «», —).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15264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961"/>
                </a:solidFill>
                <a:latin typeface="Inter"/>
              </a:rPr>
              <a:t>НАПРАВЛЕНИЕ A «ЗАГОТОВКА» · ВНУТРЕННЯЯ ВЕРСИЯ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77639"/>
            <a:ext cx="8940800" cy="17145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F4EFE4"/>
                </a:solidFill>
                <a:latin typeface="Inter Display"/>
              </a:rPr>
              <a:t>Ключ, который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F4EFE4"/>
                </a:solidFill>
                <a:latin typeface="Inter Display"/>
              </a:rPr>
              <a:t>делают люди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15264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961"/>
                </a:solidFill>
                <a:latin typeface="Inter"/>
              </a:rPr>
              <a:t>ЗАДАЧА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83488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>
                <a:solidFill>
                  <a:srgbClr val="F4EFE4"/>
                </a:solidFill>
                <a:latin typeface="Inter Display"/>
              </a:rPr>
              <a:t>35 лауреатов — не 35 интервью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715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9695"/>
                </a:solidFill>
                <a:latin typeface="Inter"/>
              </a:rPr>
              <a:t>Дела полетели · Путеводная звезда 2026 · Концепт v1 · внутренняя версия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72320" y="6309360"/>
            <a:ext cx="178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69695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15264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961"/>
                </a:solidFill>
                <a:latin typeface="Inter"/>
              </a:rPr>
              <a:t>ИНСАЙТ · КЛЮЧ ПЕРЕДАЮТ ИЗ РУК В РУКИ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83488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>
                <a:solidFill>
                  <a:srgbClr val="F4EFE4"/>
                </a:solidFill>
                <a:latin typeface="Inter Display"/>
              </a:rPr>
              <a:t>Лауреат узнаёт себя не в титре, а в жесте рук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715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9695"/>
                </a:solidFill>
                <a:latin typeface="Inter"/>
              </a:rPr>
              <a:t>Дела полетели · Путеводная звезда 2026 · Концепт v1 · внутренняя версия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72320" y="6309360"/>
            <a:ext cx="178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69695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15264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961"/>
                </a:solidFill>
                <a:latin typeface="Inter"/>
              </a:rPr>
              <a:t>НАПРАВЛЕНИЯ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12520"/>
            <a:ext cx="1072896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4EFE4"/>
                </a:solidFill>
                <a:latin typeface="Inter Display"/>
              </a:rPr>
              <a:t>Три пути, рекомендуем 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28520"/>
            <a:ext cx="3440853" cy="508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3440853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C9A961"/>
                </a:solidFill>
                <a:latin typeface="Inter Display"/>
              </a:rPr>
              <a:t>A · Заготовка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41320"/>
            <a:ext cx="3440853" cy="2981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4EFE4"/>
                </a:solidFill>
                <a:latin typeface="Inter"/>
              </a:rPr>
              <a:t>—  Ключ растёт зубцами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4EFE4"/>
                </a:solidFill>
                <a:latin typeface="Inter"/>
              </a:rPr>
              <a:t>—  Счёт 01–35 на экране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5573" y="2128520"/>
            <a:ext cx="3440853" cy="50800"/>
          </a:xfrm>
          <a:prstGeom prst="rect">
            <a:avLst/>
          </a:prstGeom>
          <a:solidFill>
            <a:srgbClr val="2B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5573" y="2331720"/>
            <a:ext cx="3440853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4EFE4"/>
                </a:solidFill>
                <a:latin typeface="Inter Display"/>
              </a:rPr>
              <a:t>B · Эстафета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5573" y="2941320"/>
            <a:ext cx="3440853" cy="2981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4EFE4"/>
                </a:solidFill>
                <a:latin typeface="Inter"/>
              </a:rPr>
              <a:t>—  Склейка по передаче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4EFE4"/>
                </a:solidFill>
                <a:latin typeface="Inter"/>
              </a:rPr>
              <a:t>—  Нужна съёмка рук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9626" y="2128520"/>
            <a:ext cx="3440853" cy="50800"/>
          </a:xfrm>
          <a:prstGeom prst="rect">
            <a:avLst/>
          </a:prstGeom>
          <a:solidFill>
            <a:srgbClr val="2B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626" y="2331720"/>
            <a:ext cx="3440853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4EFE4"/>
                </a:solidFill>
                <a:latin typeface="Inter Display"/>
              </a:rPr>
              <a:t>C · Семь ключей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626" y="2941320"/>
            <a:ext cx="3440853" cy="2981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4EFE4"/>
                </a:solidFill>
                <a:latin typeface="Inter"/>
              </a:rPr>
              <a:t>—  Морф ключа в ключ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4EFE4"/>
                </a:solidFill>
                <a:latin typeface="Inter"/>
              </a:rPr>
              <a:t>—  Нет сквозного счёта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15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9695"/>
                </a:solidFill>
                <a:latin typeface="Inter"/>
              </a:rPr>
              <a:t>Дела полетели · Путеводная звезда 2026 · Концепт v1 · внутренняя версия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72320" y="6309360"/>
            <a:ext cx="178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69695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15264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961"/>
                </a:solidFill>
                <a:latin typeface="Inter"/>
              </a:rPr>
              <a:t>A · МЕХАНИКА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4704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F4EFE4"/>
                </a:solidFill>
                <a:latin typeface="Inter Display"/>
              </a:rPr>
              <a:t>Каждый лауреат добавляет один зубец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1239520"/>
            <a:ext cx="5364480" cy="480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Ключ начинается без бородки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Зубец с номером — на каждого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Семь слесарных операций — по категориям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715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9695"/>
                </a:solidFill>
                <a:latin typeface="Inter"/>
              </a:rPr>
              <a:t>Дела полетели · Путеводная звезда 2026 · Концепт v1 · внутренняя версия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2320" y="6309360"/>
            <a:ext cx="178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69695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15264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961"/>
                </a:solidFill>
                <a:latin typeface="Inter"/>
              </a:rPr>
              <a:t>A · ТРИ ЭКРАНА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4704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F4EFE4"/>
                </a:solidFill>
                <a:latin typeface="Inter Display"/>
              </a:rPr>
              <a:t>Три экрана — три роли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1239520"/>
            <a:ext cx="5364480" cy="480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Центр: рез зубца, затем кадр лауреата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Боковая карточка: имя, компания, номинация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Счётчик зубцов 01–35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715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9695"/>
                </a:solidFill>
                <a:latin typeface="Inter"/>
              </a:rPr>
              <a:t>Дела полетели · Путеводная звезда 2026 · Концепт v1 · внутренняя версия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2320" y="6309360"/>
            <a:ext cx="178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69695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15264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961"/>
                </a:solidFill>
                <a:latin typeface="Inter"/>
              </a:rPr>
              <a:t>A · ПОТОЛОК И ФИНАЛ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4704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F4EFE4"/>
                </a:solidFill>
                <a:latin typeface="Inter Display"/>
              </a:rPr>
              <a:t>Потолок приносит ключ, финал открывает зал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1239520"/>
            <a:ext cx="5364480" cy="480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Потолок: заготовка спускается на экран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Вступление: двери — лишь на щель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«Зал победителей»: двери открыты, портреты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715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9695"/>
                </a:solidFill>
                <a:latin typeface="Inter"/>
              </a:rPr>
              <a:t>Дела полетели · Путеводная звезда 2026 · Концепт v1 · внутренняя версия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2320" y="6309360"/>
            <a:ext cx="178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69695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15264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961"/>
                </a:solidFill>
                <a:latin typeface="Inter"/>
              </a:rPr>
              <a:t>ПАЛИТРА · ЗОЛОТО 6,8:1 — ЗАГОЛОВКИ НЕ НАБИРАЕМ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12520"/>
            <a:ext cx="1072896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4EFE4"/>
                </a:solidFill>
                <a:latin typeface="Inter Display"/>
              </a:rPr>
              <a:t>Латунь к финалу становится золотом бренда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28520"/>
            <a:ext cx="1423851" cy="3108960"/>
          </a:xfrm>
          <a:prstGeom prst="rect">
            <a:avLst/>
          </a:prstGeom>
          <a:solidFill>
            <a:srgbClr val="002935"/>
          </a:solidFill>
          <a:ln w="9525">
            <a:solidFill>
              <a:srgbClr val="2B4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364480"/>
            <a:ext cx="1423851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EFE4"/>
                </a:solidFill>
                <a:latin typeface="Inter"/>
              </a:rPr>
              <a:t>Фон #002935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43880"/>
            <a:ext cx="1423851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69695"/>
                </a:solidFill>
                <a:latin typeface="Inter"/>
              </a:rPr>
              <a:t>#002935  70%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2371" y="2128520"/>
            <a:ext cx="1423851" cy="3108960"/>
          </a:xfrm>
          <a:prstGeom prst="rect">
            <a:avLst/>
          </a:prstGeom>
          <a:solidFill>
            <a:srgbClr val="0B3139"/>
          </a:solidFill>
          <a:ln w="9525">
            <a:solidFill>
              <a:srgbClr val="2B4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2371" y="5364480"/>
            <a:ext cx="1423851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EFE4"/>
                </a:solidFill>
                <a:latin typeface="Inter"/>
              </a:rPr>
              <a:t>Осн. #0B3139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2371" y="5643880"/>
            <a:ext cx="1423851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69695"/>
                </a:solidFill>
                <a:latin typeface="Inter"/>
              </a:rPr>
              <a:t>#0B3139  15%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33222" y="2128520"/>
            <a:ext cx="1423851" cy="3108960"/>
          </a:xfrm>
          <a:prstGeom prst="rect">
            <a:avLst/>
          </a:prstGeom>
          <a:solidFill>
            <a:srgbClr val="8A6B3A"/>
          </a:solidFill>
          <a:ln w="9525">
            <a:solidFill>
              <a:srgbClr val="2B4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3222" y="5364480"/>
            <a:ext cx="1423851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EFE4"/>
                </a:solidFill>
                <a:latin typeface="Inter"/>
              </a:rPr>
              <a:t>Лат. #8A6B3A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3222" y="5643880"/>
            <a:ext cx="1423851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69695"/>
                </a:solidFill>
                <a:latin typeface="Inter"/>
              </a:rPr>
              <a:t>#8A6B3A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84074" y="2128520"/>
            <a:ext cx="1423851" cy="3108960"/>
          </a:xfrm>
          <a:prstGeom prst="rect">
            <a:avLst/>
          </a:prstGeom>
          <a:solidFill>
            <a:srgbClr val="C9A961"/>
          </a:solidFill>
          <a:ln w="9525">
            <a:solidFill>
              <a:srgbClr val="2B4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84074" y="5364480"/>
            <a:ext cx="1423851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EFE4"/>
                </a:solidFill>
                <a:latin typeface="Inter"/>
              </a:rPr>
              <a:t>Зол. #C9A961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4074" y="5643880"/>
            <a:ext cx="1423851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69695"/>
                </a:solidFill>
                <a:latin typeface="Inter"/>
              </a:rPr>
              <a:t>#C9A961  10%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4925" y="2128520"/>
            <a:ext cx="1423851" cy="3108960"/>
          </a:xfrm>
          <a:prstGeom prst="rect">
            <a:avLst/>
          </a:prstGeom>
          <a:solidFill>
            <a:srgbClr val="F2E3B3"/>
          </a:solidFill>
          <a:ln w="9525">
            <a:solidFill>
              <a:srgbClr val="2B4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4925" y="5364480"/>
            <a:ext cx="1423851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EFE4"/>
                </a:solidFill>
                <a:latin typeface="Inter"/>
              </a:rPr>
              <a:t>Срез #F2E3B3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4925" y="5643880"/>
            <a:ext cx="1423851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69695"/>
                </a:solidFill>
                <a:latin typeface="Inter"/>
              </a:rPr>
              <a:t>#F2E3B3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85777" y="2128520"/>
            <a:ext cx="1423851" cy="3108960"/>
          </a:xfrm>
          <a:prstGeom prst="rect">
            <a:avLst/>
          </a:prstGeom>
          <a:solidFill>
            <a:srgbClr val="A8BFBC"/>
          </a:solidFill>
          <a:ln w="9525">
            <a:solidFill>
              <a:srgbClr val="2B4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777" y="5364480"/>
            <a:ext cx="1423851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EFE4"/>
                </a:solidFill>
                <a:latin typeface="Inter"/>
              </a:rPr>
              <a:t>Служ #A8BFBC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777" y="5643880"/>
            <a:ext cx="1423851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69695"/>
                </a:solidFill>
                <a:latin typeface="Inter"/>
              </a:rPr>
              <a:t>#A8BFBC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36628" y="2128520"/>
            <a:ext cx="1423851" cy="3108960"/>
          </a:xfrm>
          <a:prstGeom prst="rect">
            <a:avLst/>
          </a:prstGeom>
          <a:solidFill>
            <a:srgbClr val="F4EFE4"/>
          </a:solidFill>
          <a:ln w="9525">
            <a:solidFill>
              <a:srgbClr val="2B4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6628" y="5364480"/>
            <a:ext cx="1423851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EFE4"/>
                </a:solidFill>
                <a:latin typeface="Inter"/>
              </a:rPr>
              <a:t>Текст #F4EFE4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6628" y="5643880"/>
            <a:ext cx="1423851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69695"/>
                </a:solidFill>
                <a:latin typeface="Inter"/>
              </a:rPr>
              <a:t>#F4EFE4  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309360"/>
            <a:ext cx="715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9695"/>
                </a:solidFill>
                <a:latin typeface="Inter"/>
              </a:rPr>
              <a:t>Дела полетели · Путеводная звезда 2026 · Концепт v1 · внутренняя версия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2320" y="6309360"/>
            <a:ext cx="178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69695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15264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961"/>
                </a:solidFill>
                <a:latin typeface="Inter"/>
              </a:rPr>
              <a:t>ТИПОГРАФИКА · ТРЕБОВАНИЯ, ГАРНИТУРЫ ВЫБЕРЕТ ВЛАДЕЛЕЦ (FONTHOUND)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9520"/>
            <a:ext cx="268224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69695"/>
                </a:solidFill>
                <a:latin typeface="Inter"/>
              </a:rPr>
              <a:t>Имена · Inter Display · 40 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13760" y="1188720"/>
            <a:ext cx="804672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4EFE4"/>
                </a:solidFill>
                <a:latin typeface="Inter Display"/>
              </a:rPr>
              <a:t>Антиква гравёрного характера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57120"/>
            <a:ext cx="268224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69695"/>
                </a:solidFill>
                <a:latin typeface="Inter"/>
              </a:rPr>
              <a:t>Служ #A8BFBC · Inter · 24 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3760" y="2306320"/>
            <a:ext cx="8046720" cy="39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F4EFE4"/>
                </a:solidFill>
                <a:latin typeface="Inter"/>
              </a:rPr>
              <a:t>Нейтральный гротеск, цифры табличные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10560"/>
            <a:ext cx="268224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69695"/>
                </a:solidFill>
                <a:latin typeface="Inter"/>
              </a:rPr>
              <a:t>Правило · Inter · 18 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3760" y="3159760"/>
            <a:ext cx="8046720" cy="297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4EFE4"/>
                </a:solidFill>
                <a:latin typeface="Inter"/>
              </a:rPr>
              <a:t>Кириллица родная · штрих от 4 px · имя до 3 строк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715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9695"/>
                </a:solidFill>
                <a:latin typeface="Inter"/>
              </a:rPr>
              <a:t>Дела полетели · Путеводная звезда 2026 · Концепт v1 · внутренняя версия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2320" y="6309360"/>
            <a:ext cx="178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69695"/>
                </a:solidFill>
                <a:latin typeface="In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15264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961"/>
                </a:solidFill>
                <a:latin typeface="Inter"/>
              </a:rPr>
              <a:t>A · ЯЗЫК ДВИЖЕНИЯ И РИТМ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4704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F4EFE4"/>
                </a:solidFill>
                <a:latin typeface="Inter Display"/>
              </a:rPr>
              <a:t>Ритм задаёт щелчок металла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1239520"/>
            <a:ext cx="5364480" cy="480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100 BPM, зубец режется на сильной доле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Лауреату — по 5 с, всем поровну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Структура 390 с: семь блоков по 31 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715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9695"/>
                </a:solidFill>
                <a:latin typeface="Inter"/>
              </a:rPr>
              <a:t>Дела полетели · Путеводная звезда 2026 · Концепт v1 · внутренняя версия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2320" y="6309360"/>
            <a:ext cx="178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6969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y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9800"/>
            <a:ext cx="12192000" cy="243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618480"/>
            <a:ext cx="983488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4EFE4"/>
                </a:solidFill>
                <a:latin typeface="Inter"/>
              </a:rPr>
              <a:t>Тест реализуемости: ключ строится из таблицы лауреатов, не стайлфрейм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15264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961"/>
                </a:solidFill>
                <a:latin typeface="Inter"/>
              </a:rPr>
              <a:t>ПРОИЗВОДСТВО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4704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F4EFE4"/>
                </a:solidFill>
                <a:latin typeface="Inter Display"/>
              </a:rPr>
              <a:t>Ключ и карточки строятся из таблицы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1239520"/>
            <a:ext cx="5364480" cy="480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Blender — ключ, After Effects — три экрана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Лица и текст не рисует нейросеть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Реальные материалы лауреатов встают в готовые слоты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715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9695"/>
                </a:solidFill>
                <a:latin typeface="Inter"/>
              </a:rPr>
              <a:t>Дела полетели · Путеводная звезда 2026 · Концепт v1 · внутренняя версия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2320" y="6309360"/>
            <a:ext cx="178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6969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15264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961"/>
                </a:solidFill>
                <a:latin typeface="Inter"/>
              </a:rPr>
              <a:t>СЦЕНАРИЙ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12520"/>
            <a:ext cx="1072896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4EFE4"/>
                </a:solidFill>
                <a:latin typeface="Inter Display"/>
              </a:rPr>
              <a:t>390 секунд в пяти частях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29000"/>
            <a:ext cx="10728960" cy="25400"/>
          </a:xfrm>
          <a:prstGeom prst="rect">
            <a:avLst/>
          </a:prstGeom>
          <a:solidFill>
            <a:srgbClr val="2B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365500"/>
            <a:ext cx="152400" cy="1524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94000"/>
            <a:ext cx="2018792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Inter"/>
              </a:rPr>
              <a:t>0:00 · потолок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8400"/>
            <a:ext cx="1967992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4EFE4"/>
                </a:solidFill>
                <a:latin typeface="Inter"/>
              </a:rPr>
              <a:t>Заготовка спускается на экран</a:t>
            </a:r>
          </a:p>
        </p:txBody>
      </p:sp>
      <p:sp>
        <p:nvSpPr>
          <p:cNvPr id="8" name="Rectangle 7"/>
          <p:cNvSpPr/>
          <p:nvPr/>
        </p:nvSpPr>
        <p:spPr>
          <a:xfrm>
            <a:off x="2877312" y="3365500"/>
            <a:ext cx="152400" cy="1524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7312" y="2794000"/>
            <a:ext cx="2018792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Inter"/>
              </a:rPr>
              <a:t>0:20 · вступление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7312" y="3708400"/>
            <a:ext cx="1967992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4EFE4"/>
                </a:solidFill>
                <a:latin typeface="Inter"/>
              </a:rPr>
              <a:t>Двери приоткрываются на щель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3104" y="3365500"/>
            <a:ext cx="152400" cy="1524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3104" y="2794000"/>
            <a:ext cx="2018792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Inter"/>
              </a:rPr>
              <a:t>0:50 · блоки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3104" y="3708400"/>
            <a:ext cx="1967992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4EFE4"/>
                </a:solidFill>
                <a:latin typeface="Inter"/>
              </a:rPr>
              <a:t>Семь категорий по пять лауреатов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68896" y="3365500"/>
            <a:ext cx="152400" cy="1524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8896" y="2794000"/>
            <a:ext cx="2018792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Inter"/>
              </a:rPr>
              <a:t>4:27 · переход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3708400"/>
            <a:ext cx="1967992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4EFE4"/>
                </a:solidFill>
                <a:latin typeface="Inter"/>
              </a:rPr>
              <a:t>Ключ готов, пауза зала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14688" y="3365500"/>
            <a:ext cx="152400" cy="1524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14688" y="2794000"/>
            <a:ext cx="2018792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9A961"/>
                </a:solidFill>
                <a:latin typeface="Inter"/>
              </a:rPr>
              <a:t>5:07 · финал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4688" y="3708400"/>
            <a:ext cx="1967992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4EFE4"/>
                </a:solidFill>
                <a:latin typeface="Inter"/>
              </a:rPr>
              <a:t>Двери открыты, 35 портретов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715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9695"/>
                </a:solidFill>
                <a:latin typeface="Inter"/>
              </a:rPr>
              <a:t>Дела полетели · Путеводная звезда 2026 · Концепт v1 · внутренняя версия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2320" y="6309360"/>
            <a:ext cx="178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6969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15264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961"/>
                </a:solidFill>
                <a:latin typeface="Inter"/>
              </a:rPr>
              <a:t>ЧТО НУЖНО РЕШИТЬ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47040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F4EFE4"/>
                </a:solidFill>
                <a:latin typeface="Inter Display"/>
              </a:rPr>
              <a:t>Пять решений до стайлфреймов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1239520"/>
            <a:ext cx="5364480" cy="480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Отступление: двери приоткрываются на щель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Короткие формулы фраз лауреатов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Короткие названия компаний для карточек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Число спецноминаций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F4EFE4"/>
                </a:solidFill>
                <a:latin typeface="Inter"/>
              </a:rPr>
              <a:t>—  Экраны и потолок: данные площадки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7152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69695"/>
                </a:solidFill>
                <a:latin typeface="Inter"/>
              </a:rPr>
              <a:t>Дела полетели · Путеводная звезда 2026 · Концепт v1 · внутренняя версия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2320" y="6309360"/>
            <a:ext cx="1788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6969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894080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4EFE4"/>
                </a:solidFill>
                <a:latin typeface="Inter Display"/>
              </a:rPr>
              <a:t>Утверждаем A и берём стайлфреймы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821680"/>
            <a:ext cx="8940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A961"/>
                </a:solidFill>
                <a:latin typeface="Inter"/>
              </a:rPr>
              <a:t>Дальше: стайлфреймы 7680×1536 и выбор шрифтов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